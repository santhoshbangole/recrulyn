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1148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56692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RECRULYN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AI HR workspace that turns incoming mail into a ready talent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0632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BD5E1"/>
                </a:solidFill>
                <a:latin typeface="Calibri"/>
              </a:rPr>
              <a:t>Pitch for universities, institutes, and industry partners.
Hire faster. Paperwork in one click. HR never hunts an inbox again.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34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074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IMAP → Candidate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43434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44074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AI shortlist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43434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44074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LOA / NDA packs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4343400"/>
            <a:ext cx="2331720" cy="438912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440740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HR inbox,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Go-to-market  ·  Confidential  · 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conversation covers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658368" cy="475488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4592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517904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The HR time 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182880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Why campus and industry hiring still burns days in mail, PDFs, and copy-paste.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35000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" y="2532888"/>
            <a:ext cx="658368" cy="475488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60604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478024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Product, live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78892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Features already enabled in Recrulyn — pipeline, AI recruiter, documents, leave, analytics.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31012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493008"/>
            <a:ext cx="658368" cy="475488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56616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38144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IMAP mail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4904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How the HR mailbox becomes structured candidate records without manual filing.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27024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6928" y="4453128"/>
            <a:ext cx="658368" cy="475488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2628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398264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Go-to-market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70916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How we approach universities, institutes, and industry in parallel.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" y="5230368"/>
            <a:ext cx="113385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66928" y="5413248"/>
            <a:ext cx="658368" cy="475488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486400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358384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Partnership ask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5669280"/>
            <a:ext cx="9875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Pilot, campus license, and industry deployment models.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 / 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HR still does the work that software should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804672"/>
            <a:ext cx="11338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Calibri"/>
              </a:rPr>
              <a:t>Especially on campus drives, intern batches, and high-volume industry hiring.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91440" cy="21488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184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Inbox as 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13055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Resumes arrive as attachments across INBOX, HR folders, and forwarded threads. Nothing is a candidate until someone opens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417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417320"/>
            <a:ext cx="91440" cy="21488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6184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Copy-paste profiles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13055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Name, email, skills, education, and experience are typed by hand into sheets or another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41732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417320"/>
            <a:ext cx="91440" cy="21488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61848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JD matching is tribal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13055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Shortlisting depends on who has time to read 80 CVs before tomorrow’s interview panel.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490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749040"/>
            <a:ext cx="91440" cy="21488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95020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Paper after the 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46227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LOA, NDA, LOC, LOR, certificates, and internship letters live in Word templates and WhatsApp.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490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3749040"/>
            <a:ext cx="91440" cy="21488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07992" y="395020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Leaders wait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446227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Management cannot see pipeline, leave, or hiring risk without asking HR for a screenshot.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49040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3749040"/>
            <a:ext cx="91440" cy="21488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950208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Campus + industry dual 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462272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Universities send batches; companies send JDs. HR is the bottleneck in both directions.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 / 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Recrulyn is the HR operating system for hiring, people, and paperwork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74151"/>
                </a:solidFill>
                <a:latin typeface="Calibri"/>
              </a:rPr>
              <a:t>One workspace instead of six tools: mail, ATS, AI scoring, document packs, leave, and leadership briefings.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48840"/>
            <a:ext cx="2743200" cy="109728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423160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F7D4A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834640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Capture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429000"/>
            <a:ext cx="24140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IMAP syncs the HR mailbox. Resumes and HR mail become records automatically.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148840"/>
            <a:ext cx="2743200" cy="109728"/>
          </a:xfrm>
          <a:prstGeom prst="rect">
            <a:avLst/>
          </a:prstGeom>
          <a:solidFill>
            <a:srgbClr val="0F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423160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8B8D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834640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429000"/>
            <a:ext cx="24140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Parsers + AI extract skills, education, experience and score against the job.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148840"/>
            <a:ext cx="2743200" cy="109728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423160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5C05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2834640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29000"/>
            <a:ext cx="24140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HR reviews, replies from templates, issues LOA/NDA, and briefs management.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148840"/>
            <a:ext cx="274320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0" y="2148840"/>
            <a:ext cx="2743200" cy="10972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08592" y="2423160"/>
            <a:ext cx="2414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526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834640"/>
            <a:ext cx="24140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11827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429000"/>
            <a:ext cx="241401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Same engine for campus internships, institute placements, and industry roles.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 / 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PRODUCT — ENABLED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Features HR can use without waiting for a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" y="135331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4996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Talent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385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Candidate records, status, activity log, departments, and open roles.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55264" y="135331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4996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HR inbox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9385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Live IMAP import of mail + attachments. Open an email and hydrate body + files on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5331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14996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Resume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19385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Parse PDF/DOCX: name, contact, skills, education, projects, certifications.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0576" y="135331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0" y="149961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AI recruiter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93852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Natural-language role + skills → ranked shortlist against stored candidates.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608" y="304495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319125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Resume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63016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Score a CV against a job description with match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55264" y="304495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1568" y="319125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Issue letters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01568" y="363016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One-click LOA, NDA, LOC, LOR, certificates — with approvals.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04495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4224" y="319125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Email templates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4224" y="363016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Interview invite, internship confirmation, and outbound SMTP from HR.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80576" y="304495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19125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People ops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363016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Leave desk, multi-level approvals, employee records, role-based access.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2608" y="473659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88289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People analytics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" y="532180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Dashboards for HR, management, and employees — hiring and leave in one view.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55264" y="473659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488289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Document vault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532180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Store resumes and generated packs (local + WorkDrive).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73659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64224" y="488289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Reudey copilot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4224" y="532180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In-app assistant for recruiter questions and workflow help.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0576" y="4736592"/>
            <a:ext cx="283464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0" y="4882896"/>
            <a:ext cx="2542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5C36"/>
                </a:solidFill>
                <a:latin typeface="Calibri"/>
              </a:rPr>
              <a:t>Secure roles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5321808"/>
            <a:ext cx="254203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74151"/>
                </a:solidFill>
                <a:latin typeface="Calibri"/>
              </a:rPr>
              <a:t>HR, Employee, Management, Admin — each sees only what they should.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 / 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HOW MAIL BECOMES HIRING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IMAP is the silent intake layer — HR never downloads a zip of CVs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703320" cy="7315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1. 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933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Secure IMAP (port 993) to the HR mailbox — e.g. Zoho. SMTP for outbound.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703320" cy="7315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2. Sync folders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933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INBOX + HR-labelled folders. Last ~21 days. Deduped by mailbox + UID.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703320" cy="7315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5727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3. Parse mail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99339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Subject, sender, body, date. Skip logos/tracking pixels.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33756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337560"/>
            <a:ext cx="3703320" cy="73152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538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4. Classify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95935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PDF / DOCX / ID photos → resume vs attachment. Store in vault.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51960" y="333756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1960" y="3337560"/>
            <a:ext cx="3703320" cy="73152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538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5. Extract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5935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Resume text → name, email, phone, skills, education, experience.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3337560"/>
            <a:ext cx="37033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38160" y="3337560"/>
            <a:ext cx="3703320" cy="73152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353872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6. HR sees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3959352"/>
            <a:ext cx="3337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Appears in HR Inbox + Talent pipeline. Click to open full body from IMAP.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440680"/>
            <a:ext cx="113385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On open: Recrulyn can re-fetch the original message by mailbox + IMAP UID (or match sender/subject/time) so HR always has the real attachment — not a stale copy. Processed UIDs are marked so the same mail is never imported twice.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 / 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DATA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From campus / candidate mail to the HR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55448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Candidate / TPO
sends CV to HR mail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96312" y="2029968"/>
            <a:ext cx="384048" cy="292608"/>
          </a:xfrm>
          <a:prstGeom prst="rightArrow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06040" y="155448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78308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IMAP sync
HR mailbox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82312" y="2029968"/>
            <a:ext cx="384048" cy="292608"/>
          </a:xfrm>
          <a:prstGeom prst="rightArrow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155448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178308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Parse + vault
resume + IDs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68312" y="2029968"/>
            <a:ext cx="384048" cy="292608"/>
          </a:xfrm>
          <a:prstGeom prst="rightArrow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78040" y="155448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178308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Calibri"/>
              </a:rPr>
              <a:t>AI extract
profile fields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54312" y="2029968"/>
            <a:ext cx="384048" cy="292608"/>
          </a:xfrm>
          <a:prstGeom prst="rightArrow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464040" y="1554480"/>
            <a:ext cx="2148840" cy="1325880"/>
          </a:xfrm>
          <a:prstGeom prst="roundRect">
            <a:avLst>
              <a:gd name="adj" fmla="val 8000"/>
            </a:avLst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1783080"/>
            <a:ext cx="2148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HR workspace
pipeline + inbox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" y="3154680"/>
            <a:ext cx="562356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0" y="3154680"/>
            <a:ext cx="566928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5C05"/>
                </a:solidFill>
                <a:latin typeface="Calibri"/>
              </a:rPr>
              <a:t>Without Recrulyn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49039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Open 40 emails. Download 40 PDFs.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Rename files. Drop into a shared drive.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Type names into Excel / another ATS.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Miss replies sitting in a subfolder.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Re-attach the same CV when issuing LOA.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Leadership asks “how many applied?” — wait.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291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7D4A"/>
                </a:solidFill>
                <a:latin typeface="Calibri"/>
              </a:rPr>
              <a:t>With Recrulyn IMAP + HR inbox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749039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Mail lands → candidate record exists.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Resume text and URL already attached.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HR reviews in one inbox, not Outlook + Drive.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AI ranks against the open role / JD.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Reply from templates; issue LOA/NDA from the same profile.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Dashboard counts are live for HR and management.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 / 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DIRECT ACCESS FOR 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One login. The work is already waiting — not buried in mail.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53312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109728" cy="731520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26464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Calibri"/>
              </a:rPr>
              <a:t>HR 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46304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See imported mail, sender, subject, attachments, resume link. Open to hydrate body from IMAP.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57984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157984"/>
            <a:ext cx="109728" cy="73152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31136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Calibri"/>
              </a:rPr>
              <a:t>Talent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267712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Every extracted person is a candidate: status, notes, activity, department fit.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962656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962656"/>
            <a:ext cx="109728" cy="731520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035808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Calibri"/>
              </a:rPr>
              <a:t>Open roles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072384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Job requirements become the scoring target for AI recruiter and resume intelligence.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767328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767328"/>
            <a:ext cx="109728" cy="73152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40480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Calibri"/>
              </a:rPr>
              <a:t>AI recruiter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877056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Type the role and must-have skills. Get ranked people from what already arrived.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72000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572000"/>
            <a:ext cx="109728" cy="731520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45152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Calibri"/>
              </a:rPr>
              <a:t>Issue letters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4681728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Generate LOA / NDA / LOC / LOR / certificate from the candidate — no retyping.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376672"/>
            <a:ext cx="1143000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376672"/>
            <a:ext cx="109728" cy="73152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5449824"/>
            <a:ext cx="23774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Calibri"/>
              </a:rPr>
              <a:t>Approvals &amp; leave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5486400"/>
            <a:ext cx="8412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HR desk plus management sign-off. Employees self-serve leave without ticket chaos.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 / 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TIME AND EFFORT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Where hours disappear — and where Recrulyn gives them 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468880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2646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HR 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1371600"/>
            <a:ext cx="3017520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42646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Typical today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371600"/>
            <a:ext cx="3200400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42646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With Recrulyn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1371600"/>
            <a:ext cx="2514600" cy="43891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426464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HR effort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874519"/>
            <a:ext cx="2468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3192" y="2039111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Intake CVs from mail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360" y="1874519"/>
            <a:ext cx="3017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53512" y="2039111"/>
            <a:ext cx="2907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Download, rename, 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1874519"/>
            <a:ext cx="3200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62472" y="2039111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IMAP auto-import + vault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81160" y="1874519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54312" y="2039111"/>
            <a:ext cx="2404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36"/>
                </a:solidFill>
                <a:latin typeface="Calibri"/>
              </a:rPr>
              <a:t>Minutes → seconds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87751"/>
            <a:ext cx="24688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3192" y="2752343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Build candidate card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2587751"/>
            <a:ext cx="301752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53512" y="2752343"/>
            <a:ext cx="2907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Read CV, type fields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2587751"/>
            <a:ext cx="320040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2752343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Parser fills profile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81160" y="2587751"/>
            <a:ext cx="251460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54312" y="2752343"/>
            <a:ext cx="2404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36"/>
                </a:solidFill>
                <a:latin typeface="Calibri"/>
              </a:rPr>
              <a:t>~80% less typing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300983"/>
            <a:ext cx="2468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3465575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Shortlist vs JD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80360" y="3300983"/>
            <a:ext cx="3017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3465575"/>
            <a:ext cx="2907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Read all CVs overnight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89320" y="3300983"/>
            <a:ext cx="3200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2472" y="3465575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AI score + ranked list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81160" y="3300983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54312" y="3465575"/>
            <a:ext cx="2404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36"/>
                </a:solidFill>
                <a:latin typeface="Calibri"/>
              </a:rPr>
              <a:t>Panel-ready same 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014215"/>
            <a:ext cx="24688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3192" y="4178807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Reply / interview mail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80360" y="4014215"/>
            <a:ext cx="301752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3512" y="4178807"/>
            <a:ext cx="2907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Draft from scratch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4014215"/>
            <a:ext cx="320040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62472" y="4178807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Templates + SMTP send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4014215"/>
            <a:ext cx="251460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354312" y="4178807"/>
            <a:ext cx="2404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36"/>
                </a:solidFill>
                <a:latin typeface="Calibri"/>
              </a:rPr>
              <a:t>Repeatable in clicks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727447"/>
            <a:ext cx="246888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93192" y="4892039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Offer / intern pack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80360" y="4727447"/>
            <a:ext cx="301752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53512" y="4892039"/>
            <a:ext cx="2907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Edit Word, chase sign-off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4727447"/>
            <a:ext cx="32004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62472" y="4892039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LOA/NDA + approval flow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81160" y="4727447"/>
            <a:ext cx="2514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354312" y="4892039"/>
            <a:ext cx="2404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36"/>
                </a:solidFill>
                <a:latin typeface="Calibri"/>
              </a:rPr>
              <a:t>One workspace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440679"/>
            <a:ext cx="246888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3192" y="5605271"/>
            <a:ext cx="23591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Calibri"/>
              </a:rPr>
              <a:t>Status to leadership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80360" y="5440679"/>
            <a:ext cx="301752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53512" y="5605271"/>
            <a:ext cx="2907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Build a slide from Excel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89320" y="5440679"/>
            <a:ext cx="320040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62472" y="5605271"/>
            <a:ext cx="30906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Calibri"/>
              </a:rPr>
              <a:t>Live dashboards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281160" y="5440679"/>
            <a:ext cx="2514600" cy="713232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354312" y="5605271"/>
            <a:ext cx="240487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5C36"/>
                </a:solidFill>
                <a:latin typeface="Calibri"/>
              </a:rPr>
              <a:t>Always current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 / 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GO-TO-MARKET — UNIVERSITIES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Placement cells send talent. Recrulyn receives it as structure, not clutter.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5331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Approach: TPO / Placement Officer / Dean (Academics)  ·  Pilot one drive or one internship season.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965960"/>
            <a:ext cx="3749039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65960"/>
            <a:ext cx="3749039" cy="914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For the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9748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Students apply to a published HR mail — no extra portal to learn on day one.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Internship confirmation, NDA, and joining letters issued in the same system companies already use.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Cleaner audit trail for MoUs: who applied, who interned, which letter went out.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Placement reports without Excel archaeology after the drive.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65960"/>
            <a:ext cx="3749039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965960"/>
            <a:ext cx="3749039" cy="914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How we land campus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9748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Start with internships and project interns (high volume, high paperwork).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Co-brand a “campus intake week”: mailbox + JD + AI shortlist demo on real CVs.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Offer a placement-cell login (read / analytics) plus HR login for the host company.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Expand to full-time campus hiring once the intern pipeline is trusted.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1965960"/>
            <a:ext cx="3749039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80" y="1965960"/>
            <a:ext cx="3749039" cy="9144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2194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Proof they feel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97480"/>
            <a:ext cx="3383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A batch of 50 CVs in mail → 50 parsed profiles before the panel sits.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Match to the intern JD (skills, education, projects).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Same afternoon: interview invites from templates.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• Selected students: LOA + NDA pack without Word mail-merge.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 / 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GO-TO-MARKET — INSTITUTES &amp; SKILLING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Polytechnics, training academies, and bootcamps need employability, not another LMS.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72200" y="1371600"/>
            <a:ext cx="562356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Why institutes partner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Graduating cohorts have CVs of uneven quality — Recrulyn still extracts skills and projects.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Industry partners want a ranked list, not a ZIP file of 200 resumes.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Certificates and LORs can be issued from the same people record used for hiring.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Training-to-job handoff: institute shares a shortlist; company HR sees it in Recrulyn.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Position Recrulyn as the “last mile” of skilling: evidence of job-readiness.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Bundle: institute license for resume intelligence + partner-company HR inbox.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544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11827"/>
                </a:solidFill>
                <a:latin typeface="Calibri"/>
              </a:rPr>
              <a:t>Motion we propose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05740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1. Workshop: “Your mailbox is your ATS” — live IMAP demo.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2. Ingest one graduating batch against 1–2 industry JDs.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3. Joint shortlist review with a hiring manager in the room.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4. Issue sample LOR / certificate / intern LOA.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5. MoU: institute feeds talent; Recrulyn is the shared operating layer.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6. Upsell industry tenants who hire from that institute every season.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 / 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GO-TO-MARKET —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SMEs and mid-market teams that hire from mail, referrals, and campus — not from a giant ATS budget.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8988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5910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5C05"/>
                </a:solidFill>
                <a:latin typeface="Calibri"/>
              </a:rPr>
              <a:t>Who we sell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7568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HR managers, founders who still do HR, TA leads in 20–500 people companies, shared-services HR for groups.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8988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8" y="15910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5C05"/>
                </a:solidFill>
                <a:latin typeface="Calibri"/>
              </a:rPr>
              <a:t>Entry wedge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207568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Connect existing HR mailbox. Value in week one: inbox is already a pipeline. No rip-and-replace.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8988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5910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5C05"/>
                </a:solidFill>
                <a:latin typeface="Calibri"/>
              </a:rPr>
              <a:t>Land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07568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IMAP + pipeline + AI shortlist on current open roles. Prove time saved on the next 25 applicants.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2160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9227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7D4A"/>
                </a:solidFill>
                <a:latin typeface="Calibri"/>
              </a:rPr>
              <a:t>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0740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Document packs (LOA/NDA), leave &amp; approvals, management dashboards, multi-department roles.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72160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39227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7D4A"/>
                </a:solidFill>
                <a:latin typeface="Calibri"/>
              </a:rPr>
              <a:t>Keep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440740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Every new mail makes the talent graph richer. Switching cost is the living inbox + document history.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3721608"/>
            <a:ext cx="37033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39328" y="39227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F7D4A"/>
                </a:solidFill>
                <a:latin typeface="Calibri"/>
              </a:rPr>
              <a:t>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407408"/>
            <a:ext cx="3291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Campus MoUs, institute alumni hiring, industry associations, Zoho/mail-first IT teams, HR consultancies.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 / 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ONE MOTION, THREE DOORS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Universities, institutes, and industry share the same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1051560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74519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Door: TPO / Dean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514600"/>
            <a:ext cx="37033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Campus drive or intern season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Shared HR mailbox for applications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Placement analytics for the cell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Outcome: hired intern + letters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71600"/>
            <a:ext cx="3703320" cy="105156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44475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Institute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1874519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Door: Training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514600"/>
            <a:ext cx="37033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74320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Cohort CVs vs industry JD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Job-readiness shortlist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LOR / certificate issuance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Outcome: employer offtake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371600"/>
            <a:ext cx="3703320" cy="1051560"/>
          </a:xfrm>
          <a:prstGeom prst="rect">
            <a:avLst/>
          </a:prstGeom>
          <a:solidFill>
            <a:srgbClr val="2F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444752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Industry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1874519"/>
            <a:ext cx="3703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Door: HR / founder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514600"/>
            <a:ext cx="3703320" cy="2880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743200"/>
            <a:ext cx="3246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Connect IMAP in days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AI recruiter on live applicants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People docs + leave later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Outcome: hours back every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778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74151"/>
                </a:solidFill>
                <a:latin typeface="Calibri"/>
              </a:rPr>
              <a:t>Flywheel: a university or institute that standardizes on Recrulyn becomes a talent channel; every company that hires from them wants the same inbox-to-offer path.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 / 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WHY RECRULYN WINS THIS PITCH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Built around how HR actually works — starting with 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Mail-native, not portal-first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385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Candidates and TPOs already email CVs. We do not ask the market to change behavior on day one.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361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AI where it pays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385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Parsing, JD match, and recruiter ranking — not a chatbot that still needs a spreadsheet.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971800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Paperwork is product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5387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LOA, NDA, LOC, LOR, certificates and approvals are first-class, not an afterthought PDF.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71800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1363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Role-correct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387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HR acts. Employees self-serve leave. Management sees pipeline and risk. Admin governs.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72000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736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Fits Indian hiring reality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389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Intern batches, campus drives, WhatsApp-forwarded CVs that still hit HR mail, multi-letter onboarding.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572000"/>
            <a:ext cx="571500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7365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11827"/>
                </a:solidFill>
                <a:latin typeface="Calibri"/>
              </a:rPr>
              <a:t>Deployable as a workspace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138928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74151"/>
                </a:solidFill>
                <a:latin typeface="Calibri"/>
              </a:rPr>
              <a:t>HR inbox, talent, AI, documents, leave, analytics — one login, one story for buyers.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14  / 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170432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097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25C05"/>
                </a:solidFill>
                <a:latin typeface="Calibri"/>
              </a:rPr>
              <a:t>THE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Three partnership shapes — pick the door that matches the room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3703320" cy="640080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Campus pilot (8–12 weeks)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103120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2860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One university drive or intern season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HR mailbox connected; 1–2 JDs live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Success: time-to-shortlist and letter turnaround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Then: annual campus license + company seats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371600"/>
            <a:ext cx="3703320" cy="64008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4630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Institute offtake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103120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2860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One graduating / trained cohort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Joint shortlist with 1–2 employers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Success: % of cohort with ranked, letter-ready files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Then: recurring season + employer network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703320" cy="640080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1463040"/>
            <a:ext cx="3703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Industry deploy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103120"/>
            <a:ext cx="3703320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28600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Connect IMAP in the first week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Run AI recruiter on the next open role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Success: hours saved per 25 applicants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74151"/>
                </a:solidFill>
                <a:latin typeface="Calibri"/>
              </a:rPr>
              <a:t>• Then: documents + leave + management seats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53212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827"/>
                </a:solidFill>
                <a:latin typeface="Calibri"/>
              </a:rPr>
              <a:t>What we need from you in this meeting: a named mailbox (or alias), one live JD, and a date for a 30-applicant dry run. Recrulyn brings the workspace, IMAP engine, and letter packs.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656832"/>
            <a:ext cx="7315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RECRULYN  ·  Confidential pitch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6568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15  / 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on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57200"/>
            <a:ext cx="77724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62179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RECRULYN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544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Stop managing hiring in the inbox.
Start running HR from the inbox.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54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BD5E1"/>
                </a:solidFill>
                <a:latin typeface="Calibri"/>
              </a:rPr>
              <a:t>IMAP captures every CV. AI ranks the fit. HR acts from one workspace.
Universities, institutes, and industry finally share the same hiring operating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434840"/>
            <a:ext cx="3520440" cy="640080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55371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1.  Connect the HR mailbox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59" y="4434840"/>
            <a:ext cx="3520440" cy="640080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455371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2.  Run one JD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0999" y="4434840"/>
            <a:ext cx="3520440" cy="640080"/>
          </a:xfrm>
          <a:prstGeom prst="roundRect">
            <a:avLst>
              <a:gd name="adj" fmla="val 8000"/>
            </a:avLst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0999" y="455371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3.  Issue the first LOA from the same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CA3AF"/>
                </a:solidFill>
                <a:latin typeface="Calibri"/>
              </a:rPr>
              <a:t>Let’s pick a campus drive, a training cohort, or an open industry role — and make the next 25 applicants effortless.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25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